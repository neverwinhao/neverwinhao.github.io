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2"/>
  </p:sldMasterIdLst>
  <p:notesMasterIdLst>
    <p:notesMasterId r:id="rId7"/>
  </p:notesMasterIdLst>
  <p:handoutMasterIdLst>
    <p:handoutMasterId r:id="rId8"/>
  </p:handoutMasterIdLst>
  <p:sldIdLst>
    <p:sldId id="260" r:id="rId3"/>
  </p:sldIdLst>
  <p:sldSz cx="12192000" cy="6858000"/>
  <p:notesSz cx="10234613" cy="7104063"/>
  <p:custDataLst>
    <p:tags r:id="rId9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81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2B490C60-195F-A6C0-16A8-353F99893C26}" name="浩 刘" initials="浩刘" userId="31bf83f946b7a0c7" providerId="Windows Live"/>
  <p188:author id="{855B71BD-30E7-32FC-F532-56472695C4FF}" name="liuhao" initials="l" userId="liuhao" providerId="None"/>
  <p188:author id="{FF5850C2-E6A1-17FE-C6A3-899049E339DA}" name="Jiaxiang Liu (FESCO Adecco Human Resources)" initials="JL" userId="S::v-jiaxliu@microsoft.com::27182784-4ab4-403f-8d1f-52c8ce31826c" providerId="AD"/>
  <p188:author id="{2D2698E0-5D3F-35EC-D65D-89D2373CD88F}" name="Hao Liu" initials="HL" userId="1dd03455c7038126" providerId="Windows Live"/>
  <p188:author id="{4E468EE5-7D62-3A67-D6EC-2CACD1D48465}" name="Hao Liu (FESCO Adecco Human Resources)" initials="HL" userId="S::v-haoliu3@microsoft.com::2e361528-9073-4953-a6a3-56a19f9b49de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84A3C"/>
    <a:srgbClr val="3298DB"/>
    <a:srgbClr val="00B0F0"/>
    <a:srgbClr val="58D26C"/>
    <a:srgbClr val="FFD54F"/>
    <a:srgbClr val="2A8FD4"/>
    <a:srgbClr val="3176B7"/>
    <a:srgbClr val="B9D1E8"/>
    <a:srgbClr val="D7DDE9"/>
    <a:srgbClr val="144D9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EC20E35-A176-4012-BC5E-935CFFF8708E}" styleName="中度样式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8034E78-7F5D-4C2E-B375-FC64B27BC917}" styleName="深色样式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浅色样式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E9639D4-E3E2-4D34-9284-5A2195B3D0D7}" styleName="浅色样式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9012ECD-51FC-41F1-AA8D-1B2483CD663E}" styleName="浅色样式 2 - 强调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浅色样式 3 - 强调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16DA210-FB5B-4158-B5E0-FEB733F419BA}" styleName="浅色样式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B301B821-A1FF-4177-AEE7-76D212191A09}" styleName="中度样式 1 - 强调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793D81CF-94F2-401A-BA57-92F5A7B2D0C5}" styleName="中度样式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464" autoAdjust="0"/>
    <p:restoredTop sz="95994" autoAdjust="0"/>
  </p:normalViewPr>
  <p:slideViewPr>
    <p:cSldViewPr snapToGrid="0" showGuides="1">
      <p:cViewPr varScale="1">
        <p:scale>
          <a:sx n="117" d="100"/>
          <a:sy n="117" d="100"/>
        </p:scale>
        <p:origin x="200" y="176"/>
      </p:cViewPr>
      <p:guideLst>
        <p:guide orient="horz" pos="2081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 varScale="1">
        <p:scale>
          <a:sx n="84" d="100"/>
          <a:sy n="84" d="100"/>
        </p:scale>
        <p:origin x="1872" y="67"/>
      </p:cViewPr>
      <p:guideLst/>
    </p:cSldViewPr>
  </p:notesViewPr>
  <p:gridSpacing cx="72000" cy="720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handoutMaster" Target="handoutMasters/handoutMaster1.xml"/><Relationship Id="rId9" Type="http://schemas.openxmlformats.org/officeDocument/2006/relationships/tags" Target="tags/tag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434862" cy="35642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66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5797066" y="0"/>
            <a:ext cx="4434862" cy="35642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660"/>
            </a:lvl1pPr>
          </a:lstStyle>
          <a:p>
            <a:fld id="{0F9B84EA-7D68-4D60-9CB1-D50884785D1C}" type="datetimeFigureOut">
              <a:rPr lang="zh-CN" altLang="en-US" smtClean="0"/>
              <a:t>2026/10/27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6747325"/>
            <a:ext cx="4434862" cy="3564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66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5797066" y="6747325"/>
            <a:ext cx="4434862" cy="3564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660"/>
            </a:lvl1pPr>
          </a:lstStyle>
          <a:p>
            <a:fld id="{8D4E0FC9-F1F8-4FAE-9988-3BA365CFD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434679" cy="35591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5797788" y="0"/>
            <a:ext cx="4434677" cy="35591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  <a:t>2026/10/27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2987440" y="888133"/>
            <a:ext cx="4262159" cy="239774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1024619" y="3419204"/>
            <a:ext cx="8187802" cy="2796629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6748051"/>
            <a:ext cx="4434679" cy="35591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5797788" y="6748051"/>
            <a:ext cx="4434677" cy="35591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2987675" y="887413"/>
            <a:ext cx="4262438" cy="2398712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Cover adapted directly from TestExplora-Pre.pptx. Title, author order, affiliations and venue from the current DPIAgent project page.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/>
              </a:defRPr>
            </a:lvl1pPr>
          </a:lstStyle>
          <a:p>
            <a:r>
              <a:rPr lang="zh-CN" altLang="en-US" dirty="0"/>
              <a:t>单击此处添加标题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2026/10/27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单击此处添加副标题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4400" b="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2026/10/27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49" y="469127"/>
            <a:ext cx="10307927" cy="4093347"/>
          </a:xfrm>
        </p:spPr>
        <p:txBody>
          <a:bodyPr anchor="b">
            <a:normAutofit/>
          </a:bodyPr>
          <a:lstStyle>
            <a:lvl1pPr>
              <a:defRPr sz="600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10307926" cy="647555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2026/10/27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4400" b="0" i="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9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9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9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9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2026/10/27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2026/10/27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400" b="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2026/10/27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2026/10/27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3200" b="0">
                <a:effectLst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  <a:t>2026/10/27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2026/10/27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2026/10/27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  <a:t>2026/10/27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ags" Target="../tags/tag2.xml"/><Relationship Id="rId2" Type="http://schemas.openxmlformats.org/officeDocument/2006/relationships/tags" Target="../tags/tag3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Relationship Id="rId5" Type="http://schemas.openxmlformats.org/officeDocument/2006/relationships/image" Target="../media/image1.png"/><Relationship Id="rId6" Type="http://schemas.openxmlformats.org/officeDocument/2006/relationships/image" Target="../media/image2.png"/><Relationship Id="rId7" Type="http://schemas.openxmlformats.org/officeDocument/2006/relationships/image" Target="../media/image3.png"/><Relationship Id="rId8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5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/>
        </p:nvSpPr>
        <p:spPr>
          <a:xfrm>
            <a:off x="8557895" y="5233670"/>
            <a:ext cx="3634105" cy="155511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6" name="副标题 13">
            <a:extLst>
              <a:ext uri="{FF2B5EF4-FFF2-40B4-BE49-F238E27FC236}">
                <a16:creationId xmlns:a16="http://schemas.microsoft.com/office/drawing/2014/main" id="{5DECB502-CFED-B7F5-4686-7FB21DF19F7A}"/>
              </a:ext>
            </a:extLst>
          </p:cNvPr>
          <p:cNvSpPr>
            <a:spLocks noGrp="1"/>
          </p:cNvSpPr>
          <p:nvPr>
            <p:ph type="subTitle" idx="1"/>
            <p:custDataLst>
              <p:tags r:id="rId1"/>
            </p:custDataLst>
          </p:nvPr>
        </p:nvSpPr>
        <p:spPr>
          <a:xfrm>
            <a:off x="1055404" y="4206240"/>
            <a:ext cx="10081192" cy="777240"/>
          </a:xfrm>
        </p:spPr>
        <p:txBody>
          <a:bodyPr wrap="none">
            <a:normAutofit/>
          </a:bodyPr>
          <a:lstStyle/>
          <a:p>
            <a:pPr algn="ctr">
              <a:spcAft>
                <a:spcPts val="1000"/>
              </a:spcAft>
            </a:pPr>
            <a:r>
              <a:rPr sz="1800">
                <a:solidFill>
                  <a:srgbClr val="444444"/>
                </a:solidFill>
                <a:latin typeface="Arial"/>
              </a:rPr>
              <a:t>Hao Liu</a:t>
            </a:r>
            <a:r>
              <a:rPr sz="1800" baseline="30000">
                <a:solidFill>
                  <a:srgbClr val="444444"/>
                </a:solidFill>
                <a:latin typeface="Arial"/>
              </a:rPr>
              <a:t>1*,†</a:t>
            </a:r>
            <a:r>
              <a:rPr sz="1800">
                <a:solidFill>
                  <a:srgbClr val="444444"/>
                </a:solidFill>
                <a:latin typeface="Arial"/>
              </a:rPr>
              <a:t>, Steven Liu</a:t>
            </a:r>
            <a:r>
              <a:rPr sz="1800" baseline="30000">
                <a:solidFill>
                  <a:srgbClr val="444444"/>
                </a:solidFill>
                <a:latin typeface="Arial"/>
              </a:rPr>
              <a:t>1*,†</a:t>
            </a:r>
            <a:r>
              <a:rPr sz="1800">
                <a:solidFill>
                  <a:srgbClr val="444444"/>
                </a:solidFill>
                <a:latin typeface="Arial"/>
              </a:rPr>
              <a:t>, Xin Zhang</a:t>
            </a:r>
            <a:r>
              <a:rPr sz="1800" baseline="30000">
                <a:solidFill>
                  <a:srgbClr val="444444"/>
                </a:solidFill>
                <a:latin typeface="Arial"/>
              </a:rPr>
              <a:t>1*,‡</a:t>
            </a:r>
            <a:r>
              <a:rPr sz="1800">
                <a:solidFill>
                  <a:srgbClr val="444444"/>
                </a:solidFill>
                <a:latin typeface="Arial"/>
              </a:rPr>
              <a:t>, Jane Luo</a:t>
            </a:r>
            <a:r>
              <a:rPr sz="1800" baseline="30000">
                <a:solidFill>
                  <a:srgbClr val="444444"/>
                </a:solidFill>
                <a:latin typeface="Arial"/>
              </a:rPr>
              <a:t>1,†</a:t>
            </a:r>
            <a:r>
              <a:rPr sz="1800">
                <a:solidFill>
                  <a:srgbClr val="444444"/>
                </a:solidFill>
                <a:latin typeface="Arial"/>
              </a:rPr>
              <a:t>, Yu Kang</a:t>
            </a:r>
            <a:r>
              <a:rPr sz="1800" baseline="30000">
                <a:solidFill>
                  <a:srgbClr val="444444"/>
                </a:solidFill>
                <a:latin typeface="Arial"/>
              </a:rPr>
              <a:t>1</a:t>
            </a:r>
            <a:r>
              <a:rPr sz="1800">
                <a:solidFill>
                  <a:srgbClr val="444444"/>
                </a:solidFill>
                <a:latin typeface="Arial"/>
              </a:rPr>
              <a:t>, Jie Wu</a:t>
            </a:r>
            <a:r>
              <a:rPr sz="1800" baseline="30000">
                <a:solidFill>
                  <a:srgbClr val="444444"/>
                </a:solidFill>
                <a:latin typeface="Arial"/>
              </a:rPr>
              <a:t>1,2,†</a:t>
            </a:r>
          </a:p>
          <a:p>
            <a:pPr algn="ctr">
              <a:spcAft>
                <a:spcPts val="1000"/>
              </a:spcAft>
            </a:pPr>
            <a:r>
              <a:rPr sz="1800">
                <a:solidFill>
                  <a:srgbClr val="444444"/>
                </a:solidFill>
                <a:latin typeface="Arial"/>
              </a:rPr>
              <a:t>Fangkai Yang</a:t>
            </a:r>
            <a:r>
              <a:rPr sz="1800" baseline="30000">
                <a:solidFill>
                  <a:srgbClr val="444444"/>
                </a:solidFill>
                <a:latin typeface="Arial"/>
              </a:rPr>
              <a:t>1</a:t>
            </a:r>
            <a:r>
              <a:rPr sz="1800">
                <a:solidFill>
                  <a:srgbClr val="444444"/>
                </a:solidFill>
                <a:latin typeface="Arial"/>
              </a:rPr>
              <a:t>, Yangyu Huang</a:t>
            </a:r>
            <a:r>
              <a:rPr sz="1800" baseline="30000">
                <a:solidFill>
                  <a:srgbClr val="444444"/>
                </a:solidFill>
                <a:latin typeface="Arial"/>
              </a:rPr>
              <a:t>1</a:t>
            </a:r>
            <a:r>
              <a:rPr sz="1800">
                <a:solidFill>
                  <a:srgbClr val="444444"/>
                </a:solidFill>
                <a:latin typeface="Arial"/>
              </a:rPr>
              <a:t>, Pengfei Gao</a:t>
            </a:r>
            <a:r>
              <a:rPr sz="1800" baseline="30000">
                <a:solidFill>
                  <a:srgbClr val="444444"/>
                </a:solidFill>
                <a:latin typeface="Arial"/>
              </a:rPr>
              <a:t>1</a:t>
            </a:r>
            <a:r>
              <a:rPr sz="1800">
                <a:solidFill>
                  <a:srgbClr val="444444"/>
                </a:solidFill>
                <a:latin typeface="Arial"/>
              </a:rPr>
              <a:t>, Scarlett Li</a:t>
            </a:r>
            <a:r>
              <a:rPr sz="1800" baseline="30000">
                <a:solidFill>
                  <a:srgbClr val="444444"/>
                </a:solidFill>
                <a:latin typeface="Arial"/>
              </a:rPr>
              <a:t>1</a:t>
            </a:r>
            <a:r>
              <a:rPr sz="1800">
                <a:solidFill>
                  <a:srgbClr val="444444"/>
                </a:solidFill>
                <a:latin typeface="Arial"/>
              </a:rPr>
              <a:t>, Yan Lu</a:t>
            </a:r>
            <a:r>
              <a:rPr sz="1800" baseline="30000">
                <a:solidFill>
                  <a:srgbClr val="444444"/>
                </a:solidFill>
                <a:latin typeface="Arial"/>
              </a:rPr>
              <a:t>1</a:t>
            </a:r>
          </a:p>
        </p:txBody>
      </p:sp>
      <p:sp>
        <p:nvSpPr>
          <p:cNvPr id="7" name="标题 7">
            <a:extLst>
              <a:ext uri="{FF2B5EF4-FFF2-40B4-BE49-F238E27FC236}">
                <a16:creationId xmlns:a16="http://schemas.microsoft.com/office/drawing/2014/main" id="{B748269A-795C-322E-C003-46E32DDE026A}"/>
              </a:ext>
            </a:extLst>
          </p:cNvPr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844006" y="1690996"/>
            <a:ext cx="10503988" cy="1988965"/>
          </a:xfrm>
        </p:spPr>
        <p:txBody>
          <a:bodyPr>
            <a:normAutofit/>
          </a:bodyPr>
          <a:lstStyle/>
          <a:p>
            <a:pPr algn="ctr">
              <a:lnSpc>
                <a:spcPts val="5000"/>
              </a:lnSpc>
            </a:pPr>
            <a:r>
              <a:rPr lang="zh-CN" altLang="zh-CN" sz="3200" dirty="0">
                <a:latin typeface="Arial"/>
              </a:rPr>
              <a:t>DPIAgent: Agentic Reproduction Test Generation with Structured Phase Boundaries</a:t>
            </a:r>
            <a:endParaRPr lang="zh-CN" altLang="en-US" sz="3200" spc="300" dirty="0">
              <a:latin typeface="微软雅黑" charset="0"/>
              <a:ea typeface="微软雅黑" charset="0"/>
              <a:cs typeface="Times New Roman" panose="02020503050405090304" pitchFamily="18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FB415B6-95F7-0F88-78A8-FDC8A56C3707}"/>
              </a:ext>
            </a:extLst>
          </p:cNvPr>
          <p:cNvSpPr txBox="1"/>
          <p:nvPr/>
        </p:nvSpPr>
        <p:spPr>
          <a:xfrm>
            <a:off x="1020501" y="5303520"/>
            <a:ext cx="10150997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1000"/>
              </a:spcAft>
            </a:pPr>
            <a:r>
              <a:rPr sz="2000" baseline="30000">
                <a:latin typeface="Arial"/>
              </a:rPr>
              <a:t>1</a:t>
            </a:r>
            <a:r>
              <a:rPr sz="2000">
                <a:latin typeface="Arial"/>
              </a:rPr>
              <a:t> Microsoft</a:t>
            </a:r>
            <a:endParaRPr lang="en-US" altLang="zh-CN" sz="2000" dirty="0">
              <a:latin typeface="+mj-lt"/>
              <a:cs typeface="Times New Roman" panose="02020603050405020304" pitchFamily="18" charset="0"/>
            </a:endParaRPr>
          </a:p>
          <a:p>
            <a:pPr algn="ctr">
              <a:spcAft>
                <a:spcPts val="1000"/>
              </a:spcAft>
            </a:pPr>
            <a:r>
              <a:rPr sz="2000" baseline="30000">
                <a:latin typeface="Arial"/>
              </a:rPr>
              <a:t>2</a:t>
            </a:r>
            <a:r>
              <a:rPr sz="2000">
                <a:latin typeface="Arial"/>
              </a:rPr>
              <a:t> Tsinghua University</a:t>
            </a:r>
          </a:p>
        </p:txBody>
      </p:sp>
      <p:pic>
        <p:nvPicPr>
          <p:cNvPr id="8" name="图片 7" descr="File:Microsoft logo.svg - Wikimedia Commons">
            <a:extLst>
              <a:ext uri="{FF2B5EF4-FFF2-40B4-BE49-F238E27FC236}">
                <a16:creationId xmlns:a16="http://schemas.microsoft.com/office/drawing/2014/main" id="{20853548-6433-85AD-6781-BEB84813DA7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66560" y="5294376"/>
            <a:ext cx="310896" cy="310896"/>
          </a:xfrm>
          <a:prstGeom prst="rect">
            <a:avLst/>
          </a:prstGeom>
        </p:spPr>
      </p:pic>
      <p:pic>
        <p:nvPicPr>
          <p:cNvPr id="14" name="图片 13" descr="Tsinghua University - Wikipedia">
            <a:extLst>
              <a:ext uri="{FF2B5EF4-FFF2-40B4-BE49-F238E27FC236}">
                <a16:creationId xmlns:a16="http://schemas.microsoft.com/office/drawing/2014/main" id="{25EC668E-5B53-D1FD-4B51-52B96621E71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81945" y="5760720"/>
            <a:ext cx="310896" cy="310896"/>
          </a:xfrm>
          <a:prstGeom prst="rect">
            <a:avLst/>
          </a:prstGeom>
        </p:spPr>
      </p:pic>
      <p:pic>
        <p:nvPicPr>
          <p:cNvPr id="3" name="图片 2" descr="Press">
            <a:extLst>
              <a:ext uri="{FF2B5EF4-FFF2-40B4-BE49-F238E27FC236}">
                <a16:creationId xmlns:a16="http://schemas.microsoft.com/office/drawing/2014/main" id="{5A05AC99-6C40-AEB8-A641-21B85E1D85E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5149" y="137287"/>
            <a:ext cx="1801223" cy="818738"/>
          </a:xfrm>
          <a:prstGeom prst="rect">
            <a:avLst/>
          </a:prstGeom>
        </p:spPr>
      </p:pic>
    </p:spTree>
  </p:cSld>
  <p:clrMapOvr>
    <a:masterClrMapping/>
  </p:clrMapOvr>
  <p:transition spd="slow" advTm="4000">
    <p:fade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YjY2OGUxMDI5MzFmNGUzYTk0ODNhYzhjNzA2NDdlMDc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宋体"/>
        <a:ea typeface=""/>
        <a:cs typeface=""/>
        <a:font script="Jpan" typeface="游ゴシック Light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宋体"/>
        <a:ea typeface=""/>
        <a:cs typeface=""/>
        <a:font script="Jpan" typeface="游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s:customData xmlns="http://www.wps.cn/officeDocument/2013/wpsCustomData" xmlns:s="http://www.wps.cn/officeDocument/2013/wpsCustomData">
  <extobjs>
    <extobj name="334E55B0-647D-440b-865C-3EC943EB4CBC-1">
      <extobjdata type="334E55B0-647D-440b-865C-3EC943EB4CBC" data="ewoJIkltZ1NldHRpbmdKc29uIiA6ICJ7XCJkcGlcIjpcIjYwMFwiLFwiZm9ybWF0XCI6XCJQTkdcIixcInRyYW5zcGFyZW50XCI6dHJ1ZSxcImF1dG9cIjp0cnVlfSIsCgkiTGF0ZXgiIDogIlhGc2djR1Z5Wm05eWJXRnVZMlVnS0hCaGNtRnRYM3RzYjJOaGRHVmtmU2tnTFNCd1pYSm1iM0p0WVc1alpWOTdiM0IwYVcxaGJIMGdLSEJoY21GdElGeHBiaUI3Y21GdVpHOXRmU2tnWEYwPSIsCgkiTGF0ZXhJbWdCYXNlNjQiIDogImlWQk9SdzBLR2dvQUFBQU5TVWhFVWdBQUNlY0FBQUJXQkFNQUFBQzlBYUpHQUFBQU1GQk1WRVgvLy84QUFBQUFBQUFBQUFBQUFBQUFBQUFBQUFBQUFBQUFBQUFBQUFBQUFBQUFBQUFBQUFBQUFBQUFBQUFBQUFBdjNhQjdBQUFBRDNSU1RsTUFNcnZ2M2F0bXpZa2lFSFpFVkprVnBLT1BBQUFBQ1hCSVdYTUFBQTdFQUFBT3hBR1ZLdzRiQUFBZ0FFbEVRVlI0QWUxOWZYQnN5WFhYbFo3ZWU5SThmZFdhUU1vRXBHVFhEb25COC9EYnpSSi9YWGsvTUFTWFI0NFh0bUpzajJvTlJaRS9QTExYU3h5WG5WRmlBM0VWTUNvdnhxazRvTUYrM3FWMmNhVEVtQVJYd1V6NUE0Y0VyQmM3S1FxVE1FcVZYUnNuc0NNL2FmZnRsMS96TzZmN2RQZWRlNi9tem9la096dTZWWnJiOS9UcDA2ZFBuM1A2OUxrZkNvS3pJL2k5NXJnSTRlRzFjUm5waTJ5YzQ2T2l4elZ4TXo5MlhKUkhrdTc4d2VaSTh0MEgwMVBYKzJoMDF1VFVKVEJHS25wc3NpNHRIeHZwRVNSYy91NElNdDBmeTRYU0IvcHJlTmJxVkNVd1JpcDZiSEsrZXFOK2JMUkhqdkNrYW80Y3ozMHovUEJodmUrMlp3MVBTd0pqcGFMSEplU1o4Q2VPaDNUaGdkSmRYemdlMHNkR3RmcjBzWkhPSCtFSmRVd3ozODlRSDdudDhCWDFmaHFPVzV1eFV0SGt5UzM4d1AvK3h6OGM3aVZYWm9NdUhkT0MzMUNIb2RySXhrTk9zTTZQR0w4RGlxMTFZMEFDdzJ0K1NhbTcxVFBEby9laXBUUm1LcG80ajIxRngycGlYVWJnbkZyUGlOa1QycVI2T2lpODY2bWUycHcyY20yOGN2dlRneW5PTUdlcnFOYUNSOEtCOUhpWTdPU1gxcGlwYU9KRWhPejAxaExyc2dKcngrS1ppbW94bUt1T1ZJNXNWajJYVldZdkRyelM4emtaeDZUQ0RhVC9xVjdJQ1R2NVpXUHNWRFJwS243bkY5OEt0emZZWXhaVGFpZUo5R0N3ZVFWWFdoc3dDQjJNaFo1YmZ4cmh4bGdkVzFpWWNuRzBFWE5PSzFLWnMrTklDWXlkaXFaSUkxUUhLVFVad1RPMHpBNzdXRkxmQzJiaGo1ZUhUZmdZNlZYemsrTTZ4bEY2cEMrcEZlL3E5SW9UU2wwTGRwVWFyK3hDUC9JZU94Vk5FVkk0OEFMWk9Fd2hQUUM0aXEzaUpKemV4Z0EwVHJqcEJmWHNDZmQ0NnQyRitiaDNjRkdwZWxCVVozY3l1aW5FR0twb29rZ0tDbmNNQmp2T0RkODFZZTFlQ2FiZzlKcURzWGFTcmJmVjNrbDJsNGUrS3ZuWTN5NHBMTHNsZFpiVDY2WVRZNmlpaVNLWlV3TUhLQmVHdjc4OXIrQkI4RE5LV1pveXdvMHhPNmFPNTg1OXIxSXNxNXRCVUI2dEJIQ3ZZeHdLL2hpcWFLTGM1cFc2bkZqUkE3QTA5R1RXQW1WcENxVlJpcDBteVBMRzdKaEQ1alVIaHlJMnJvNmgvSHVVL1RpcWFLS0lzSWRjVGF6b0FkaUNoeHJ1Z2F6MFpoRE1mbk80VkkrVjJpU3lrR04zbEFhOENUWVVnZUdHRjJWVC8wZDlLTlJleEVUR1VrV1Q1bk5iRGY2Z3hkVGd3V0lIYXpXbE9pQzV2MXdhcGJCMFdOSnNITWZqU3IweWg0ZFY5bnR0TTViNFk2bWlTVFBkR3ZReFBSQzlwSWI5bEdwMTlCNC9vS2VweCs3WUh2cHkxNGNJY2ZOMnVZOW00OWRrTEZVMGFacmJnejZtQjZLRklkQ0k4alo2ang4VTZBN2kyQjNuODVEVVF3SjRZK3drMzhlQTg2eWl2M1ZiaUdjMTZMaWpqNUgxMnFRMGpEdWs1U0VuOVdZNE5kM3JVRTRWLzlKWVBpVTJxNForRDZ2M1dkeWl1MTVuUjFjSjVGZEZIeW15djlNL3phNERHUlJoQ0kvcGdZWGRJVCs2Y0dIdzUyZ0dGVXl2N2FjR2Z2S24xeDV6Z1QrRTVNakE0NmprZ1ltQlIzSDhCSEtyb2gvM1hKNDZxQis3Sklid21CNTRYQml5eGVNNW1sRkxUUzhOMmU4Zis4d1BwNE5pRG5hVzdkRzc2elVjNGZkSUphOHErcXZ3ZVFmdi9DZC95TWNmdkxUSFVmV0JQb3pIOUFLOE1QWk1IMzJuTjBGcWVqMjlOcGMxN1J4WS95a0lwcEtEMTIrcmVkaGpuNExzZSsweXB5cUtiWjE2K1dhdmd4a0VmeGlQNlFYQmhTRm44WkdhM2h0a1ZLZlFWbzNTRzNQRGs4L1c4Ti9HNlprNWRmWlljaWFaNVZSRkVhaC9KeFAvUTBQYVZzTjQwZ28zSGhhSHhoSUlMUTNoNGNGaDh0T2RGaDZRN1k3MElzU1lHdnJUU2owTENlOXBEL3IyZU05OWptS0RuS3JvbzByOXlRbUxzelVjZDFVYWh1dDBRNjhNaHl0SDhOaEwwMk82eFRwLytnOVVZbnQwRE44Mk8zYU5PZkVPOHFtaWhWQzk5cVJGZ2RoeUdGMlc3ZU9oRTdjZXZvVXBYcmoxNFAzUm5mck01eDg4ZUhOVHV2djZsVmR5OWV5M3dvZXVDZENjazdrcWZQN3VnM3QvV2xEbmJuMlZqb3EvZHZlTmR4amczSzEzL2hFWEMvL25RWFh2bW9aZStGWjQrOStwNjdMOW5ic3ZmS2hwcjFENCtwV2YwOEhxWjU4QXVsL0Q1Y2Z2QzI5L1JXUTRuN3cvdlAzL1dyeUwwYXptRVZMNC9idHZ2TjAyUXlGcEhGeC9KSXVId3VLN2ZabjRkRSttREk4elNFZTNoUGRxcVQ4UTN2blJLS0dJZkZPRmhEYkpkNzN5ckN6UmdaN1VWVDVWZEVwZHIzZVZRT3IwSDJramNUTTI2S1hvU3QycEtsbDlTTVhlYmEwZGhPcEhNWXJId3dNOEF1aVA1OStWbENxcHc2WWU0cnk2d241aXRxb08xUTNQblh3WWVVMXpyR3RVOHp0WHBQLytvbjdLWExiUjBRYktYeVdxUDZ1QkJGdEZzUUN2aWQ1MkNJcDdRNGVxY3hQMmVLaHVKMmtYZmxzM3hCZGRRcDBaU2tRUEhnQ1JVRjEzYkJZK3dtVGZaSnJqL25YazFmdFVLUlErcHlBWENPamYxMDNUcEhGUVZZeEZraGgvZGNaajBSK29vWGV5Sit3dEYvdnZjUnBESXAySFZHNVg2bTBlb1E3NXBnbHBPaFJkNllpMGM2MHMzamhQc0poUEZTMW1lZlUvYmZwak5uSzBHUnQwUEtiM3ZDZjNCRlhKNUVPUWhETTdqRXNIelRsMVdBOG13bWMyZzI4SWxMcUFxZUllelNjbC85SitBNzRHdnhjRTdSdmZER2FycjNaTXdGbkpzZStnaUloQzlack40SEhKUWM0ZkxrNlRtNXBYSDZvSFg5VVA5ekNNUHAvYk9FREE5eVgyNXhmVXpaZFMyMldmRnY1NTFuZUMyZEpQQkcyNS9WQW1kb0J6U2IxK01aanRRQS9lcFE0UllYNS8rSUlRZ2JPNS9nK0RtWVo5YjNuWEgycVFMb1dHdXJrWmZQbXdQcThNcmFSeFVDOXhGbGxpSFN4VzFCL1ZJZVpUL0dUd1FOblh4bXVERnYwanlaZW9qOUljT2ZmWklkODBJZkVuRjBWYlpHN29ER0k1VmhhZjA1TXI1MUpGNTdQb2J0cjB4MjNrU0RNVzlMbElQaVJKVmJMNEVIcFF6K1NTbDU0TjhBM2IxYUJ4c3g0RS92ME52QlgrSHByZ3ExcTFaK0dtenFIUitZTm1FSHpjZnl2a3Q1NTg4dHY0OHZlVFR6NzVwODRJUUt1b1hrZnQvNlhCM1lXZkRPRnp5cTlGWFZrdkZ5Mkc3U0JzMndFbWV0K0RVMldudnFYRE9DS0FvMUJVYjhCcDhnWTJaOHNFQ0M0d08wQXRKNkFIZjA0ZHJCSFd2RFhMbXJwQnpCVkt4dGZEWSs0VGhqbFNwZkFwZFVqdGl1c1ZtZXlrY1FBanp1SmNBb3Z6M2tDbDd4TStsN0tzMUNrOFRlQlRPcE9ZejB1Y3l2WnZCSGZJTjBWSStBN1B2M2p5eWJKU3I0UzIvSnJYU2M2VnhlUDBCSXU1Vk5GTXp3Nm1USC9jUm80MFk0cys3ejhGM0trcVdYMElKbTVLM0ZaeGgvNmZ6N1BUK3NXZ21wSVFybEExSWVXRWZnSnZDcnZCU2J5eVcvd0FOQmZQSmtZbUh3QnhKaFplVVRmcWRJSEU1eDZkUzlmSXUxNmVKT2l1K1NhZ2h1MEhSYjNiTGF0bjRkZzJDUnRmbnVjemxTa0cxQzlQbGY2ZU9MMXp6STRTZEh5K2RGR2owaTlXaUZWOTFWN1haOXh4MnVIU2tpWkVyS3pvS3Y1Tmt3SkNTS1l3OWJSTkt5U05BelRpTEdxSitTeHV5a0NMR09ocEhlVUJQamt3aVJVR2krRm1EZEtuRXR5NlBqcmxteUlrall6Wlh6VHQ1SlJ6WlJFMlQvYWNTeFd0K25hWkpvK1U2WS9ieUpGbUhFZW4vcEpWcGJzUFFkUHp4bTNOVUZxN29wNnBhYWUxTGI0UVJpenZSNWJaUUZzcm5JSCtHcjJsLzJsc1VPbzQyd05lWnQ5ZTZBSnNZMVdYS3B3OW02T0diZlZDZTRYOUlIL0x6c0Nldm1oMmV5MkVkOFZsYm9XSWRvOEw5QU9meXE2SG5LVnhYb2FkYTlWbHhnSzY2WTB1MnlaTW5IbXJjUzd3WFd5bU5PNU5ib0NnYzFrWDZEZFZDcnZHMjRJRHN3WWtqUU1VMGxsY2N5enVUWG9EZGIyZmJLa2RtNnJzL1cvdDB5T2U2aGUxMDBLcXhRaTlVNzRwUWpJZE5XTDNVdkt1TE5rbE5Fek1QS3Jvbk93UWp4cG95dlNuMjBpaUdTZWdvOU1VVmVucVE0aGZSSXpNOXZ4Tm5LQ0ZadTIxQVJaNk5HNGlhSENCWWlIRVV5V0tCRnZBNTlieWc0b1ZLWnN6Y21pbWRJNzlLd1VKUVZrZFVuQUFGOFdXZDFIRGJwYVhOZXFTT3B3M3JaQnZ2NnlCK0FXOHpoZDRNbHMxdVdUWStYWVNPZ2F4d1VnUHl5RGdMSzh4QkVHZ0tmaE9OVWlUQXJoQUFvdU9rdnhEaDZSeG9ENkJ4YXFXbU1maVNudVphQkYyTkZMVzBKUDViUXdRWmJiM09JeVdzTjRHckozeVRSR1NHU0Mwb0dPb2VWZVdEblpQNkRLUEtuck9oQjlIaWlCbCtoTnM1Q2d6anFBdlNvZWRxcExWaDFCN3hHYWJkRjZnQ0s4bUZrMitjSS9BTUV2ak9PRGl5T25OVUdoMzBmZ2M0SXRISTF6YUxNdWFyNi9aUDY2Yk1qd2l6SC9yT1Z4V2RVZncxaHhuQ1V5Mm5OdEtWVlowSytUM3FBRWZjRDNtSmdLNDF0NjJJT3lZVGhCMFdIVDBZcmhEZCt5d1FlQVpRMnZPT0QzUUIxTnlIQ0dGcHNacFNDd3JQQk5ITW80Z1NHRFJTc3l4K0xRWSs1WWkvay9uYUlrdysraWVsa1lhZEZPM2xZZzZKdDlrSVVtSHNlOEVRVU9Na0doZHhid2t0UmZZS1NpTE1INnk1MXlxYUV2bS9paFp5RlIxdFpHanpEakJwTkJucXFwMFVRdG1GOEZXa3dxN2wvRlR0aDRPWG9VQXdVem9uaWhvRU8rWHlJK2NVM3JmMk9yOHBncThGVlRWUHhvdUo2ZHBOcFpSSFdxZlNwSGVKaTRGOXF4cHVXWGd1TVNRQmVxNVZFRDE0QzRZZG1TekNnV3g2SERjcjJhQ0FHb29JcjUxMDhVbFBXemFqcTRaRUU0cFVrQjhKLy9vYUVsSUNNOTdhQ2JqOEwyK1pWRWs1ckZvZVFRMUd2K3BIRXRaTmlqSm5NMVNmQXExa3hXa1lRTFdtSHlUaFdTSVlvR2lDTjg3R2s0Y3VWUVdqOVVUTE9aU1JjdFp0aWpKMCs4aUkyc2pSNWx4Qk4zR1dLbXFJdWEvcGF3eStUNkU1dzJBTlNyUWhnVytTSWFDaEEyM2hudXpkeWFLKzBDNStEUitRSkRqcWZQNmxpWWc1dGhWeHBjSUFCTkdEZmlBYXdDdDZocmZudFVSVHBsdnhsb1lxdmdBR1RFSE5PS3VDSTdQcHRhNUhoOC9OUVluN0Vnbi92Z3FzcGNGRTNyWEhjcnVuVzZRYUVvWWFGT1g2RGRGQ3RaOUJnSGMrZ2JqSjQwakU0dkV6UTZUNFB4QTNSUS8rNXZmZnQvclRQbFlUbi8yTjMveWZYVHJXNDR0NjdNRWt2bk1XUUNveG1YVEFwSm0zeDJUYjdLUVRDc0k0b1ZJbDdsWGxnaTN4M2tSVVliY3FLZy9ZbXVnUHJDem5EejlQWnB4QkYzY1FycXFyQmttVW53STF5SUsycUFDM1dmeGxsNEltamVFTmJkZm5lR2Q2d0w1d3BaWS9yOWVwTGJ1YUNqdHpDd0VhNzlZQmdWdDRKbk1BNTVNQndrenY4dVlCaWFSS1c2b2FDZUZTcXo0KzRZYUJpcWhoYlVYWVdmZDRJQnZRVWQzaGlER3hhbEtiTWdrWUF1MlRBbXdSZE1XcHhRcFFJQWJCZ25GSmhlVHhrRnhZeFlXWlhkTFNWUkRsNUtGSko1ak95amNkUXNZdWxsd3d1aTFVN29mVGU1L3h6U3M2T1VsTHQ5RUlVbHZtRnE3bmpFczk4b2luQi83T2FJTXVWRlJiOWh6SFZQblZYbkZ4T25QYUNOaXhsRjBpY0JTVmFXTER6SE1hYS9HbTJyNEluSnBkRURRWklGa0tac01vRVFlZVFmZUFMYWRyWnBLY3lyYlVORUFxdDd1RVY3b3FZQjNSb2ljWkV5RUp6QVpFVUk2dWMxQW02Z1ZRd3VoaGNlZUppRHNFR3QwZ1BJS0YzaW5TYlpKUjBXL0piamxDQVJWMHhrYWJHb2svS1pJSVFnZFVzME1YWGoyeDhINy9pd3NDbC9JSjFqLzl3UTZzUUt3SEEydlVMZ05IZmpjTHNpYTBIc2YyK1NzV2hHaDdBQ3kxU25mWkNGSmY1amF5MUxtY3pYdnloTGhOc3ZGUkJXdjhQUnhSSlFoTnlycURXVGVtcGtIN0N3bVQzK1BacHlFempjRjFxUzdpRit4SnBUc1Ewd2JuYU9hbzgweXBDdGFhQkkydVA4cHJyTlF2RWt0YWh2NHNjK3FFY1EvT2l2Z3BtWER6UEhkOVdDYUlpRnMwNWU5WmdKYkYxakp0ZkpRRzY0VjdxUm9aTU9PTUVtM1dJUnl4WTJtOE4rWWNsRmFCY0duMUo3dURBT3Q2eEorVTZTQWtNVG1FcXBHSU1MenNtMU1oU3dzWWtRaTVhZ2dTeEdmRktFN2xBc0V2TXNlb1FHY1hvdm9ZTnNoMU1vNkVvN0pOMWxJMHNxYldnYmxYMW1FODh6bnJiNmphVThaY3FTaWR1QVhPMjlZMmhxdmtEejlXV3pFTStNbytySW1uNjRxWFh5STRVNDdnb20vakV0bzRhcUJ3dHZkUkhISmJibStwQzNtaTV1UmJiQkJsNVBiM1drSUtMb3RHN2FlaDhIc2o2Qm0yKzJNQ0U5Z0czU0JBOVpKbmZNQjFBMVRERjM4dHlCUXc0N3NLYkZuODlGM1RFdDl3b29nRzdMWlVMeFlSS05TcElERnhzWm1Na0xoT2RwRkZoWXhvajNERndacU9hZU02cktCOTNPcWQyMkUzbnh1RjF5VTJiVnBCOEl0VFFEY3pSMDg0RTFEaXNzM1dVaEN6SnNyQnVWZldZVHpJODhGcjlZOVYrRUJNeFU5WmNpUmlscldGeUtxWk1IUlF2TDBaN0VSVHpXaTZFYUIwMVZsdzdDUTRrTk1yZHNQa2k5YU0xQlFKWE1zUzlxbDhCODg4OVIzSkF5bWY0TGFXKy9BOElxMzRhRXRzOW5NdFNLSk5FMEJzS2FoQlQ5dXlUZ3dmS1pOZ08wNlpJNGdiVUxjVlNBODgySTRvZ3psTVpESFM5WTF3cnZYVGJmbUZKY0NSckZ2S3NHYTdZdDNlSXQrNDZ3c1hqT05JRWhIcmNNbitYUXpsQnQybVVoRlJtOU5yMUkvTnVrQlVKejU3OG5IUzZOb2RBVjI1ZTRSNVNNM1V1UWJGNUlsdGVRV01ZWkJ6SkliNFB4Sy9wVEZzbjVFNFpKZDBvQlVkREk2b2tsQ2xhOE0rVkZSeCtpQyttY3hUWW1ZZ2tWdGRkaDZWaHRwYWdvZDZLYVBkRlV4elNpN251QkRoS3ZRYmJiQTM2WUJiMnVWaHB0WUQ0TEhmdURkMkxlNk1XRWJ2Qy9OSTJkdzZOU1dhbUFOS3hZRGsyZTJvVzNudm15dEI0TjNmRTdnRGd3L2JIZXhOWitBejQ1RFIzaG0wVFd4QllZVS91MS8vWlpTUHlqMEVVaEwwWnpqVWlpNWJURlk4NGJ1ZXROdE03RlljMjdXNTV6dTdqZ1JkL0RVOVJMTFRiMGJFbmozVVpLY0hrYWFmRFQ5bGx3R3V6TFhzRkJhTFJlUzVFdmI0RWkzamxERnFSc0QwZm1LcmMybHNsanVqaWdzT2QybDF5ejNqa0E5b3NwWGh2eW9xR040TzBGTjVORUtoMFdsenVuUFpDT3VVVEo2ZDFWSjlpSENtdWYwdkN6TkxzY2djSmR5K0ora0F5UHIwanh5amhneGF1Zyt5SWJGZ0JzeW04cFNwejhDamdmRExLOUlxMURhK0Z2dG9Pb1Q4Tmx4VkpiOG5UVlR3NWpNY2YwL0NYbEtBdHF5THNTazRHM2JDTjBidXV0Tk4vWDdUR1d4S3ZFdTMvZFl0cjFEZUxiY2N5Rkw0NHUrMERpWkVldEdCQlE3NzhSUTBlTmxBeVExYVpLRnkrSEpOekt4VVNMdDZJQkhRRm1pL0NkZlJkN3VtL2xmeVVoZG9mNTg1a2RGSGR2Yk10WCt1ZW5xWGFrdkczR05sand6dGk4YlpGQVZDRzFGbUhBK1JDQmV4dFRMMHRUNFZpSkVyKzY1NTQwdmUvSS9id282blRIaURmL2FscU11UWIrcHRHaHJ0eVJWaDhpQTlzNlJ3NGN0Y0lxSXF6Rzg1dzFldzRVV1FZU0F4NDZIamhGSUpHSUl0TEc5dnVlZTk3N3pUMzFOakd0VVRBcTBVWmJ4ZzdVTlE0NTNlTkZ4WkdFUnZOdWRLQ1N5WTZuaG80eTIzSFBoWEliR0MxR3BKMFY2SDhGUWs0NDdaZnlPTVN3MXErWUtxeW9GcVlueXBXMXdWRWlXUkdSWkdBbGxzYXdmVWZDU2NVZGdkYXZ5bFNFL0t1cTQzazdRa2p0Y3RTdkZwci9oMldWRU5VQnl3N1R6ekRnUm5Td1NDbWVPTGJFb3Z5OFk2cDZwOTZoSkV4ZnBvWTNOMGhSNUd3ZHhKMFVmTFY3WWhZQjM5bnBpS0F6RDN1SGo1STZtajlqZHBiSk1jeCsyNjVJOXNDZTVDVjJOaEJZZUFZOGQ3SzhGdmVUUVRSY2dzTzh4cTR1eGhFbWlGT3dvd0ZyVDB2QjVabUFXRnYxa1E4MmZ1KzAwNTJEN082S3daZGVHZEtUZHFOVFB1WWd6dlUxNnpUWnZhYmtlTWlRMVNaUXY3ZHE5dWZMcGlhNGEyQWdvaTg5OVNoa1d0cE5TMVF2WVY0YjhxS2did1lKOXBzekJFa3V4NmM5aUk1NFpKNkpuVUJVWTZqWERrT2REaE1YUWhvSGdUendHd2hHNmxSalBpM0dyZHFJclJOV1dNd1JHaEdGNDBRdWE2ZGdMQVdUTSsvaXdoa3RRWVhnclRJb2lCaiswOEFoNDdNQkxHM1FvbjBYWEJJSXdzalUxd01pdE1ZTEZwWUJSMkdlYWEvN1FmWjZwYVNZV3NVclpoQ1UrUjAzdDlOSGhrd1NjN1Z4eFU1ZmFvQmFWK29CT3IrVWM5b0tlNWtUNTBuTlEzbHg1ekdHRzdCcExZSWc1NzhyaWNaOVdoTDB1cHRYMUFQZVZJVDhxNmdad3prWmxEcFpZNnB6K1REYml6RGdaUFlPcU5KSjhpT1hRT1Qzd2Q5bUFLWTIxeHFscHV4V3pEWTdJMG5pR3dPaExibk9LNjFDY0Rqelp1a2VPaXo2czZId0JLR3hvVkVvY3JlbGllbVp0S3hIZHRBS0JQVk4wcDVoR3hhV3c2MWxuWkV2bTgwd1VNN0dJZFh2RmRBOHBlenUvRHA5a2NES2V5bmJxMGh0VW8xSmZpS2I0MHRzbDEzaXBUMHdTdWE5RStkSnpVTEhKWm9yKzZrSUFVSG1lSy9nbmxHWko3WDNZU1NxTFl5KzFKSjlxUzBYSVZ1RXJRMzVVMVBFK1NURlJsc09mS3NMUFpDTmJpV1lNVjJnMEtZT3FKS3FGWmRoUzhoOFpwaXpOSmkrK2tjVllONEwzOVd6VkVrS2g1c2RCdUc3NVd4dDNQd0NPZXNOdlJtVWY1dTE3UUJGODBJRWwxSzZoUG5Ja2FkU3c2REFwaTY0SjBLS3hwb3ZlTDN5YzZjQUFNVXZMcG1pa1VIRVJjSFRvRVRiUUpoT0xDODcxZ3I2WGRxektsSnJlZXpxRm5XRnRRdXNPcVMvNGdWVUNlaGVROXh4NmpjZVJMTi9JeEVaSVl2VDdQcUNWZjJYeDJVMHBuM083Z2hTTVRHQmZHZktqb283MTZReUxMR1AzWlNQT2pKTk5Lb09xSlBvUXk3K3pjZkMzWThDd2ZOcDRiVGx6dC9qUjUrSThNSXFlZStVS01PLzAydDBQQU0vTmFFUDJqd0tEZDdTdU5yUkJIeldYUnJzK0FiZzNtelFxSmFMclpyVGhYUlFLOWd6VGE5b0xLc1NsNEkwQzY1VHRLOEl6azhqRTRwSnp2Y2dlckhCRC91bndTYTRpUXdsalcrdUdCdDZiUHM3MlFPWUpGMmZqc2hLUEkxbSt0UEJGdXJVc2VDRXZ3end4NjdzYW13eE9hdS9CVGxSWkxPL3BoUzJudStsSTNXdDhaY2lQaWpxK1p6S2tVeGpibXlxK3ptUWp5V2Jzckw2N3FpU3JoZkFQNVYwMVpmQW5UZ0dXL3oxQXQzeW5KUzBvUzJPelVoYkloYkREanRxK1ZTTTZOVGtiZ092UmhwSEhlU0NYWjAwMWVCZlRRcS8ydWJ1YTgzLzg4dHkrUVlmZFNRd0tkQzlmUnZWa2xBYlBPOEZsWHZNdTJaTjFTQUhzcmh1VWFIVFNPWTRzTEFhWXNFMURiY210TWh6M055T005SEtCQlZHSXBqWUQ3M1cvY3N2S3lvZG1MWHViVXdyeHJxWEpsKzdwUnJxMUhjRGxyOW9MRklDNFlxL3pxU3lXdmZSQ3hlcHVPazczbXNnQ2xSc1Y5Zmt1MlRTM0Q0MlhPNmMvaTQxRXpUakI2dE5WUlJoSTlpRlNpdzQyVEJta0JBckxYRUY1MjJYNXBBYm56bTI2cmZKWGZ3YlduTHZnbkkyNVQrS2V3ckZOQXk5WmhoRGdzcW1BaU1qL3piNk5uL2UzK1VXTlRGQWNicXRQNzN3d09sNTFROUZMaXhNZXVMTTNZZWxhSDNDcmExTG1jMXdLWmJjaE5YMTlwYzZvbmVOQThxVXJpNGlHTFJmb2lseVZwZ2FHbWFqK0tmejlCdy9lditnQkhyay92UFBuN2ZYTUw1VHViZG9yRW80bFN0Q1pYNy83OEJWZTlTL2RkdmgyeUNtNkN1d09GSk5nWnZaTkQxQXdvcHdzWC8vNVM0OGpGS0ZjT3o1a0JKU0YyUFVuWXJyMFpwcWozeS9kK1FVWmlaZGNuYjMxVGhuZ2RPbmVUV0JNUEdIK1NURCtaYlJyUWswN0pqU2lETGxSVVJram5Xc3BTNW1QUStWK2JNUXo0MlNUU2xHVnJqNUVtTU9hc21iS1hwYW1wS0VML3VJckxkS3pOTkhOSC9EaE8xZHRNL2dPZlFIcmtIak1Wdm93OUNxdEVBMnNBMmNLM2hKV0prRWZrTW01WE5RK2ROdTViYmpqRlZNQlMreGNpMkt4SDFESlZEZm9iSSs0Rk5yT090SFhIakNyaTRUdTgwelhtVmhFdXQveUZlcll0Y1RVSW84T1R4VFZuYmY1TDhIY29nNGVlbEQ5VGU0R3hsTlVEMVdmQ203NUVGM1Boc29jSzZiNlFrbmRkYitWVmhEY29tN2NyMVlYbkVkbXZKYnlkdXFtWmZZVFJMMXNzRkhrZEVTYWZHT1RyZHZ0cXVpK3QrR21uZDkvMURvUUV6SWErN0FGMStyNGxRVjlZeUxlV3pJdjlCUks3eVZOZnBkNnFNUkc5Q1daQ0Y1ZENzVWIxY05OSGlzaFFtTW5pb2N2SzVFQ3pWWnYvRkRvdS96SWhLSkpSQmt3M0EwbUl6K25wYUxTUDUyWGZQYjlpbWpabnlxdTZkR01vK2lrU1dUMTNWVWxXUzJFTjhUT1RWMEdmK0pWc0xid3ZFR2Qxd1hSblR1MTFkYkEwVHhuTDZoUWNURVNhYXBaSEdLK0VaZytiTW41WVhTMWc5cXR5eHk2U2FZUFBIOFAwTzE5L1BDTEFFMHUwRXhvZEZRQXgwWmRwclp6MGRGZ2owVUNKRWloNXZocDhVYXVvR015bjJlbWhSV3FLNHNRcmVDZ1BRbDhSZ2RwL3FQRGhiSjZTeEI4ekdMaVgyMWViK0svb3g5c2NqOVlacitELzZ6NW96bzJoTlROc2FKcjU4S0RqOUovSzk3UWx3aDZiMjRHSDd1K3kwSXpNSndhSEJXNzY5NUsyMXJVMUdqSkxJMko4bzBKeVhiVEVIMHdrSW8zRTNsVmx1QXo2cWxGK3FlbWE4UTAvaTFEUzIxODVtQU4ya2JLaGhIcGc0M242bFB3WGV1RUYrQi9SUUNSLzd2cU5LMTU3ZWZyQ003RjJvQVFtVkJjKzhwQXQ4WDNBTFBIcWFtbzVRQ0Y4OW0wSnpiOVdXeGt5Wmx4RkoxV2FiTDY3cW9DRW11RzNWMUQ3Yks1eGdrbXM2bXY0Q1owNk1RaEN4ZmhaMWNjYXZDSkpsL1VPclRWWWlBVzlTZ0R2T1ZORjlnM3M0eFMxRGNDMDRjMUxFdVNFS3F0TXFNMFpqckFGaEZvTGRNRkZNWTRVeTdTWUdyTG5HSHluZDRFUEUwN3NyK2IrU0ExcHZoN1hSZjBiNElVd0UvVG9MUzVMLzRDVlpSbnJvY3N1N0lJSE5xQjAyR0dNYTBqUC8vSnJKYisvbDlOMG8xejZ1QWFHaFJDeUFISG8reStMaDZhRFhIaHNjY2E2cnVQUFZiblN2ckh1MitqVXRrSXVWQmxNdFVTQzAzajBHL2I3azhkTEh1cDVSTEFFTXFpSnNqR2JtZ1krZm9URzZYZStlM0ZVVkFXVEVRVG81alc2MGRyRmQ3cHU2VVBBTkppRzN2c3NjZVZldWxqai9GQWl4dVlZVnFjc1M0VDRuUG4rWithVmxWejhxazZnS0VZWG14Q2FTRVhSYUxtZVZGUjRrV09tYzdza1ZSRXo3SHB6Mklqc09oTmtDRXpqcUx2QTBwVzMxMVZZTE5FZ2c1dHN3SDVFRGxnZWFZSWwwVkU2UURSRFRvalB5NGdYQlZLT3dRTXZLMHpYOXNmQkliTDlvSUs1OXplZ3piRnBsdVRHSXRnQXJZaUFDL3JGV3JSbHByODRTTHh5U0JMeUdWaHg5cWFpVFhvKzhmUUtUK245ekNjWHNVT0ZkWEJWZU9DOFM5NDZWS09CQ2tzT2ZzTzJXK2UxMDFqNDBBVTE1WEZTYmN3WUJqTDZIWks2M2ZOK2FSTDZrYWQrSmtTLzlqUS80dXRvbGt0bE5nSkl4dHJjN3hlSmlsNFdORXVBQUdZaVNpdmFnUENuSzR3WEg2aS8wMVZvRm5QWlN0TW0zWk9sRzlNU0xZRGI1UEdzRkZRbG9ZaUQwZHVhQk8veFVYU2NGNnpwc3pzdWVUcUJXamxwSm1LNGlZUW45Yi9BcSttVm90N1JLT3NiUXlsK0lSNnlvRDZ2S2dvY1cyUEdydDVlNWxTaUUxL0Zodnh6RGlLdm81ZXlPcFRWV1ZGMkVqMklWSTdhY01mVUpJWVJOd2FBbWtUTGhENlZlTmNFbEp5bXRxQzhaVkNtMktaWmJtbzJvNWlhRUFCYkU4d1hkWUw5a1NXeTE5Z1JaQ3ZsMDMyM2FzQWg2UjRGUHpmNUROSGQ0USt3ZnZGU0Z4WENDR3ZiYVhxQnBNVWJVV1hHLzRRV1o2ZFVnQnYxelF1eGtNcWZrNWp4TWZSblVVYUtQRk9COXpRR2s3ODhXZGFTbFp3d1lmOHAvVUx4bS9qbjJuVFVDR05mYXFmTXFaVXRnT0hoeGVpd1V4b0pMbHRuSjc1akJhOCtSNjF0b2ZnV1VCUGhkQXVwVmF2dDVQa0d4ZVNkTk9wUmlPZ0xQYS9tbGRJcjJldzVtQjRLRkhVcmxjYTk1amVGSlRrbko0aGpYaWdGK0dLZXIzVzE3YWRzL2lFZXNvQTRubFJVUnFvUGM1RmdsRUw3aWpFcDcrN2pSaXIxMlljUWQ4RGRiTDZWRlVoQkQ1U2ZJaXBOZk9DSy9CUTcrQUFBQks0U1VSQlZOaWdNUk5zOFg1Y1Y3ZTlrUldxR2hqYnBodEtuTnhwMmdzcWlKbWlpRGpYMEtTdmNUU3AxajhBdTJhdTRkd05INVRwSTZmTC8vMEhLNk1CSS82azFKMTJoWVFqenRDZzgzL2JwT0c0RHE0ZTFsbFVUUXQ2VlBKalN6WTY0N29FS2NCZHJPbDJGYjFGTjI0cVBvN3VMQVpMbGhqSm9RNjZWVTNjK1NTTUR4T0xBK0xqZ25uSERLSCtPb0hMeGozcWY1NXVFQ0VRZmRpM3kxb3ZNQUQvdkluUG9Ick5vUEFKQzFyazJxL3JYZ1pySXBTV2Rza3A4bzBMeVJESE5Hc0dwYk1SVUJiN1BNb1d4UWZUQ1BpM0ZXa1diY08wbExja2h4TlVsc21rV0dVMW92blhmTkFobmtWTW96NG5UYWhUQmlLZUZ4VWxYdXlCK1d2YWk5UkNmUHE3MjBqRWpCUFJVMVZGTkRyTmh4Zyt0NjNMd0d5WTdkS25SWTB4YXpyaFJNaC94cmlKMkRiZGpoZ1U2dmFDQzJXcjJMdkszTW1LSk9Fc2RzMDFoVzFEby9qQThDK2pvSjNNa3ZEUzBnWjNYcSt0SGp0QTM3Zm9jRlZOSm9LZjJaRCtWVGRFdFNxUWlkS1BtK0tDK0ZKOW5TQUZTRkMzdzJMQXlPVU54dlY0TnJTNnMwako3azJEdmN2UG1SamZqVTZ1V1NwNisweEI3QnBnR05ZZVZjRnRyZW5USWwyQ2xNZ0pOUm9FYUZ1Y2VQRXlZOGxidVJCcm5RSG1CeDF1K3RlOWxkR2pzZGxDS0t0Wm9uempRaklkZ1FJdGFONlJlMldCeUhZMHY2dzBGTXRKOGcycVVhY3FrVFoyd05kSTAzbUdOS0pxRWdLbG9MWGNxenBHNUhsZDVDbzdvWjR5VUVWT1ZKUjVkRDh5ZEFkSktNV252N3VOUk13NEdiMmJxcVQ1RU1QaGtyV2NNdlNZcHdNcEJrbE5lWlp5d2FRemNFdktMbEVkbzR6c0tMbnUwNUpZZzFKOFFMQmw4eXpYZEhhYlh5UkNiSllOazcrT1NzN1JVYi9jWWxhOW14M0V0alo1Z0ZjWXpsNk4wZGZvR3NhNFRHYzZHbnBuNFcwVEtqcHJocnBKOGFXTWlmVTNMb1dxeVd6dVB0Mm1KYUpndGRibTFIVGJEQ3o2aitrdDhTTEQvMW1NTTdaMVE2Vmt4Nis5TFZLbHVxcjgxd2xqVzlZbWw4aHptU1R5a011RWhTM0FHcDBRMEpGTTZIYWJ5VTd3RlpsYTVORStBODE2d3BKaUZPZXFjN2hKOGsyYWJPNEVXNVNWYUcrNVY1WXBLN0lGVXBwdDhDL3Z5TXF5WStla1FOSTFLcWdSdFE1Q3djeVNGa3E2SVQ2aG50bVJpSEtpb3NTS2QyRElHOTVsY2pFKy9UMmFjVEo2aXFwWURVL3pJWVpKa3h6SFZhaHUxTmcrcnFxRFJSbENWWUtqMmFyT1JIQWFZME9xbzJmdlMzU21BaWE0eHNXYWVEOWNkU1p6Q01FbDVwQUlrVDZKcDFXWXIxWVhCQkxYQ0xYeVBIemhHdlJ0bWE0b3E3TEhCZnd3K3JUUkx2ZUl4cGZON0Z5MC91MnJyZzN5Tk5LY3prbFMyTkxSOEFXMXMwU1JublFRSDBjbUZtM3NyUE0vT3IwTnhaWVp1MkRqQ1VobEdTdzExRFBFbVJ3MXpZMFpMVU85citsQlNWaEtjeVZ0V3dpRStScGl0UjF6bS9NZDEwSSsyeG1UOUg1MitWZ2gvNm8wU1pKdlhFZ0dHNjRjYytzZnVWZVdpdmdyS0IyVTdPRWRXcXpYZVFnUWM1TUt4czFoQWY1YkhLS3o3RFdpWHFPQmNabGJZRFZDZXpyaUUrcVVnUkZ5b3FMTWkvZlRjSnMzRHhvdHhxYy9rNDJzV2l0TFJrOVJGWEZScVQ3RU1GY1cxUVAxWjZhbzFXeEp1ZjliOTZneHVMbmk0YUpwc1dUbU56bzZ1dEtidndpOHBTMFVqM1JlRXpoYzFndFNsck1QMnhKSGljb2FXWDJOOXFZNFdwd1ZPUStIVndUVEV5YmU4dGxwa0FvMkREcUN5eWEzK3dmcVova2NGS3JHKzMxZC80OXhoa0orbTdxYWZoT2xnQWNWNnFnclA2M1gzQ1d0dmo3UDFKU09yaXlDdnNsTVVwb1Rsak90YzBJd0k1a3grSk02RXlObU1CNkk5VGw5emI4d2xuMHVvSGJOd0YwbWllN1dJTHo3QzcrZ2JqUzVrcStwdE9VNjVncmNUdVJ6ZnorWXBJM1NIdHArV1YydkM0a0UrU1lKU2FOanNWcVRodWFjZDJVSjdVUnNtV2diazdIQnpKdGtDdVpreHcwS1FIc2hMaDRZdWdYVWM1RnJFeWJVS1FOajVFUkY3VmhNWVRha2h4YVBQSkttdjZ1TllKVmZkMmFjak41RlZWSjlpT1kyRk5WRGdQSENUUGllWUtJY3NZYWkraUR1aDM0K1BGeVQwVldzVVFyRW5ERkMyUmJiR2dqbUxVSGhpMTQwRnFBajM0Z1oxWWUxUFBwVG9IZ0xleHlnemFuRFp2Qkw0WnR3SDFtOUVIeERSekwwSUVwZHVydkk2SnZtOGtzOEo3OVRWQitTK2tsMkJYLytyWXIzaVFZcW9SQmZKa3VocGQ0VXpId1l2ZFBEQlhQaGpxREd4dEdWUmFpNmExUlNpeFBGVjJzMmxpUitnK09VWFRPUWwva3hhK2lBUGNBaGdEaFFrSkc2VEJJVVJoOTNYR01raUFlZWxRNmJoTmVYd1pMSGlBSDFjSUxVbXcvZldBeStMK0s2NHZMMUp6Wktma21NM29GenJpeVlEcG1JbHBFcTNGR1QrVWZjU3BPQjRTNjY4WGlmZElCdDZBbXh2ZzdiZTQyWk1LRk9HVFNLTk9ZcjRDY1k2Z21vcUJ1WUtUMktWejIvR1lQNmdLVHA3Mm9qeUJLUjFaTThjU1NqZDFHVmx1Y1VJajZFU1dJeTZseEF6Z2NSeE1jVW5uaDlqWUV3Zks2a0R1NVc2cW1teHNMdmJuUzNaZUUwNC92dXlwUVE5OSt1MU9FWFhBVVVaY05kNlpJUFc3SXhEMEtXcWlycFIyMEo3eE1LVitUcjhQenRGVmxTZlhhQWZyZERKd2R3VDZnTzNxNzdvTi9mQXplaFVoNkU3cDJ0T29Sa0tjd2c1YWpYOEUrcGc5QjRXNTluUzZBYmk1RDNua1YrRkZTZnF1dkxodlZCUlI0aVFTRzdQY3JveUZBWkU1ZHJYUEFTZWQ1enhrVjE0MisvODQvLzQyOHpDbjZLc29UWmJKT3A0ZVZVc0hvK2wyR3lNMFZNeDRFM3N3bnlUUlFTOXdhM0dlczEzOHJpVFVUTjZDZ1kxb05ZMEhaa1Baa1o0Z3N5Ukp1bHN4ZzJKWkV3b1U0WmRQdDhxS2lNeFowL3A1RGwrTjFmZG9ET1V1TDBkN01Sc25yUGpCUFJ5VGFPOEN2cFBvUTR4SE93aGxIc3F0YUQ0T3ZoN2UrSWNqN3hUMHVIRC8yYUI1dStzdUZkZVVYTXArYytwR0x1aWZEZ0x5M0tGWjAvL05mOEsxMzJZSmV1N0xuNnVWdDluL1VYSHp4NGVaMHFaNTg0Zkl0QmlyQVRSUSsrOWo3MXhyOGI2ZnY3WXhBNDhjdUdGRTRwVXNDYjRxLzZhY2I2V3ZWZUllang3QWgwWS9GenIzZTRrUFlkVFhQcEhrQ1ZPd1RpN21CUG0xNGJlK2tsNlVvbStBT2F1d21sMjFocVljZmttRmVwUE1xOUZKSDZ4Q0o4NjhHOTE2S3RZdkpORkJLMWFTZmxGSE90TEZieXRKVG9sYysrSTZ2dnhBZit2N2FnaEovVkxKdWxzeGhMc2hwWnNtNUNuVEpvNmVaRFJhTXp6VmZrOWV4eFJ3SkM0dlIzc3hGU0xDOHVTVUtIOGgzbFY0N3dJV0J5VWtTUG5FOGtvRWdZUURjUWN1aHIzWEJ5V0I5NXluSndLZlE1UXV1VGtQVFpOelMwT1lBbG4rYVNYTG9rWGNHYk90ZWFHeUd5MU5TOERDQlhvRTNkSjl0YkdkUk12TnRiT3crN2FqWFBBK2E2NkUyRUxDWDJIVmtUK20zN1lySHBPNHpLWnVrc2huM3BJbUZDclRJWWVlUkRSUk1tcC9BYnlqdWFDUmg1QkczYlhWVWxrbzdvaDFmWWFMMmZkcWZjaGw4QkZ4NEdsNEpRNnUwTTU3U21XMkJIc0c3YTduSVlybjh0T1h2cGtuUTJUNFNOdjRvK0NHS3BJZmV3YVdtZ2NNbExJdmp3YkdWUWk2VnZzN1cwV0g1eTB3SnpYYkNTcCtlQzlCelpKd1JLaW5leUxWOHMySUZaa1c5Snl0WmloQktkVzdKMlFwMHlHSG5rUWtXVDUrYXo5MW12SjduM1pNUWNRUnMyeFZTV0NLSnY3dVNXVnQ4RVRxY2gvSVRyZUhBcE9GcTlsSnhQUW1uUHRHeHozRkNKdXFlS2VrWlh0KzNteWVhSlVLSEVsalFTcUcxd2FUNzZaQTQyWW9ONExVNTk2aDc2L0VVWUpMNjlUd29uM3N4TkJBUyt3OTFMdUliUlhDYUFsMXlsVkltNWg0U0tpZ1FYZ3VFY1czeENuVEp3Sjd5VW1SSk9wNldpam9Ob3FmQXJmOGpISDd3MENzL3ZGVzRnR3VhaUwrajN3M0hMaiszN0lYQktiY3JteGhwMVA3Z1UraHNFMzVXWWZROGFJMnpiMERUZ2pjbVNXdUxsTkxRaTIwSk81SDJFZ0NaUE5MbUdja2RlRmZaRFVNTEJZM3JUSzF5bW42MkJmQTVTbjh1V1ZGOEZERlA3amI1YW4wb2pOeEhic29KVVRWeU5vSTVIWTVLckwyZitPQXljMDk5QUxFc0FYaldDZzkrc0I4RVRRSXhQcUZNR0dXY2VWRlI0R2ZuempMMlBNWVFzVFZ0V3N4RVRpMmYvUTVCQ2Y0UG5KUFlrQlY4dUJJQWxYUVBBWnJ3MVpmT0VFbTFrWVdjaEFSZjBhbFBiUUZtTWl1QTQ0RnVJQnIzSGdjZnl6dTF6bVg3YTVsa0xDK2lwc0RXd3k5SkczMU9ucDQzc0pzSStUaXhSdWZ6amRDMldhUjJMOC8xeWVnVU5SeWpodXl4cEhBYk8wQVBwOFFsMXlzQnQ4Wk1IRlJWZVJ2NDhyMU1SR0FkQ0FzNUs5RFdrbWJlK0h1MUtIZmNIK3lKMUNvM20zVTV2SUNrTXdqcmZsVmhnbjJUOUNULzJUeTdON0dkQi95M2tBL1U4Z2RYRllJTHZ2Uy94QVBUYmNUVUpLWUxnTTAxMm9makZ3WS95TGExekdUOEZiK3Nsc0I3T1NIMDJlMENQb242Y2JzOXo1Qm1GNS8zS3JDMWdVK0pjNVBiMGttSWNGeGFzUlZUckZ5U3hLdTFodWxZQW9NZk1OU0phTkFtQVp3YStoOGo3SmtyeENmV1VnWEhwblVLYmpEZzFGVFdzalA1cDIrNVNCc3JTN05MOFltS2JJeWtSendFTUpJVkJCcjlMV28xdlRlSW9TbEJndGtUZW01Y1g0ZjRXeUZwd1lJZUoyeEY4RDdYQ2Qyam5VVWttdEU4bk9xb2IrQkZyQ3duZTJDRTRIZFBPaWpTZ3Q5OUI4a3F3ZTlqNjFnQnJiRys4RGcxN2t2aW13NzdHYkdKeEc4akJJVkY5ZTROKzllMmw4aHFWVWJGSlozcThqTTg2KzhmZktJdFBxS2NNR3RsZm8wNU5SUTBybzMrcTJaUWViR2k5Ny9HRWxIMjZZTjhlN1p2T0tUVWNraFFHNFo0VDNlMG1rZGcxc2RvbHBXK0hUVmk1RnFxdnBrV2ZIUjE4STk0WnZ2Z2N0ZEMzTkhaWHFIeFI2ZjBVUHNmTEwvTzJkYklKVDhCZWhodXNFd29kMjRORjVmeVlucWJVOHk4MERaeFh6Q2g3Ym41NkRXWmxJaHJtSzFFUXRsNmdwazJXU044dG1tWEJ3NzlobVB6ZEFYS1RLTk5oSCt5cjBnUzA4SmN3b1o0eWNDUDg1RUJGaFpWUlB4ZmNBNkxJMG16ME94eXNhVENwU1JPQzlFdmw5TnBOV1E4d2lCUUc0bitYQWpGdEdKTW1CcXJJL3dFcW02MVI4Qko2TmNkOHB4c0xQbXhyaWF3bWFOQjZOYVBqN0FrSlIyWkRUcUZ2NlZpK3JPQmtKdHduQjdMK002dmtRU0dvNTdBeXViWUx0TVZPcnlpRDZvS2RwK3FpRmpGV2Q4d0RIWGhJaTFlZGl2bUVrSDdVZjB2bkgvaGlFcGxVSFBhNVk1dXJLR0l4S29SRUp6Nmhuakp3YS96a1FFV0ZsVkUvVDd0YkQ4alNYT3QzT0lqWjRUWVdCZ2dWKysxNU9PMW03VlpyRUNrTXhNc0Nab0srTlltalVPSUliOTVtM2E2YXdPTGora01RRFRLOW1lb0hLWGdvb2dqWFIxSFRTN1I1SVNaZzJFejVlaDFWZUI2UFRQQVROK2loL2tsdGpiaWVrVnZBaE5MN2dkM2E5M3B2WlZyVThGSWp0dDJjamV5YnlLazBOQlBSdGpraHZJZEI2NGg4NFJvM29iQVFUWVJyek4wRVRXQUR5eEdPYlpHWEpQQXdUVHYwLzRMb2lFMm9wd3lNZ0o4Y3FLaXdNdXJuTGJVbVEwQW9VSmR5cjJkeWVwdVl1OFZlRytZRnYyMDJIOEVnVWhob01CZXdhVzJ0YUJLUHF0ZkJXWVVIYTRaaW9ZcFBIUVF6RHhBWXgzbDh5Nm5RZUFxOE5zMUhyaWhCZDBsdll5bHJSTjd2WHhYbHN6WmxmQ2ZzY2JWNkhzN1BmSXdMMWZKdnVvaGVId2ZDVEk1dyttaEtPelhzd0M4TmxsUHNxK09CR3hXcUpOVFBxUjhUU2pYMTNlcmI2QjNrSFFPaFhXaER1ektzU0FmQi9HR2RhMW9pcjRha1hEK3Q5Z3JWVmE2TVRhaXZESVp3Y1BvcUtweU0rcmxxbDF0a2wvdDNlbGo0c1pVS1RhZ3hna0taMHFrWmV0SytmeWtNTnU2RytpSDVyZ1Rjd3F2dVV3ZGlTQlN0SGJ6c2ZxWCtrZW1ob2U2dEhqU1JDN3BlL1lBR2xkVlBocStWL3IrTVR3NVUxUTJZSngvNGtQbjk5TS9WMnVxSGI5UU5MS2djMktLQWVqbnZEdUwwS3JRN1BPZVcyMTQ2UG1WY3BPbGVWbEt2c1Z4VTFlVlAwVCs5L1JHQjRDT0Z0MkpxOUhGVnZWZStuRnVSWFZCTk1pbXptRDF6WHdUaFFzZUUrc3BnaU9WQVJRMG5JMzY2SUFuWng3OWRoYm0vNnNsLzN0K0FDdlI1dW5tWnp2NW9uR3FyR1k0N0JwVENZQ09ZK2RiQm53aUZ3Z09sdzhnM0doNjVMN3o5NTc1cHEzOGo1UGY4dnhMK0RRT2F1Ty93cjBodEVIemw3b00zL3IrNnZYNzh3Y04zNEdMMnJZY2JBaXZZL2J4QWVqZ1gvZ3Njc0RwNDVSK0xXKzJoTGFGdTA1Y1oyN1F0SEwzamtkdlVYVC92Mkthc3poZExkMzNCUWI2dmRKY1R5Njlma1ZrNWYwZGQ0M3pxRHNIOVZmZmxpa0xuaFByS1lQQnpvS0xDK1dpZnQzWDZoNklBYy9RNW50YjF4VUxidlhQVEo1VlRiTmFpYmNpZ1VqaEYvbnZzZXRMdXgzcHNTT2g0ckZnZiszMDBScE01OVlQNFQrVEwvVFhPVlN0c0ROWk9qS0V4VTlGamsydFJzZytWZzl2ZitEUDNYSEgzY252c2NpN0VsOVUyZW15VUovUkx0UDBZVkFwNUd0RFJ2TFJsWTNVMFduTHRCWFhsbnA5NTM5MWgzNUg5Ti9BWndmNXYvaVl6ZFNwUTVMSTNUNnpqTVZQUjQ1THJ2TWxrRFlIK2hkc092ek1FTXFkSG9qYWEyNjMrQkhicGxPT3NCMHB2UGpsbjBaK0lNclc2S0UvZlpjSWVGR21zVkhSUVlhVzJiNHp5aGpSMVZQMVZUSTkwb05yam1Gdmo1T0Y3bEUwdjZQWWplYjAwNmh0M3JGUzBieWwxYVRqWDkvNmtDK0dSckc2TTdyM25YdVU5TWJ3SXY5ZXVYMXo0L1A3c3lRMXBqRlQwMklTNk5FaGk1OWk0T2kzQ2M2UDdsR0d2SXR1V1ZHNnZEYy93b3hLb3lkTjNVZkJ4WFkyUmloNlhDQXVEM01FN0xxWk9rZTYvZVZHa21iSUk4RE5qTTlJczBoZ0FwNlJXQm1qZGU5UHhVZEhlWlpPdFJlR25zdUdkWVoxSjRFd0NDUklvZkZLcE56eVdVSEVHT3BQQW1RVE9KUEJpbEVDSm4xWmNlVEVPN1d4TVp4STRrOENaQk9JU0tGMTU0L3V1blBMRFAzR3V6aUFaSmZEL0FWWmlrbjZSRVdneEFBQUFBRWxGVGtTdVFtQ0MiCn0K"/>
    </extobj>
  </extobjs>
</s:customData>
</file>

<file path=customXml/itemProps1.xml><?xml version="1.0" encoding="utf-8"?>
<ds:datastoreItem xmlns:ds="http://schemas.openxmlformats.org/officeDocument/2006/customXml" ds:itemID="{E0E95873-C1FC-FB4A-8673-7B58F6B2B4ED}">
  <ds:schemaRefs>
    <ds:schemaRef ds:uri="http://www.wps.cn/officeDocument/2013/wpsCustomData"/>
  </ds:schemaRefs>
</ds:datastoreItem>
</file>

<file path=docMetadata/LabelInfo.xml><?xml version="1.0" encoding="utf-8"?>
<clbl:labelList xmlns:clbl="http://schemas.microsoft.com/office/2020/mipLabelMetadata">
  <clbl:label id="{87ba5c36-b7cf-4793-bbc2-bd5b3a9f95ca}" enabled="1" method="Privilege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1307</TotalTime>
  <Words>1418</Words>
  <Application>Microsoft Macintosh PowerPoint</Application>
  <PresentationFormat>宽屏</PresentationFormat>
  <Paragraphs>108</Paragraphs>
  <Slides>4</Slides>
  <Notes>4</Notes>
  <HiddenSlides>0</HiddenSlides>
  <MMClips>3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9" baseType="lpstr">
      <vt:lpstr>宋体</vt:lpstr>
      <vt:lpstr>微软雅黑</vt:lpstr>
      <vt:lpstr>Arial</vt:lpstr>
      <vt:lpstr>Calibri</vt:lpstr>
      <vt:lpstr>WPS</vt:lpstr>
      <vt:lpstr>DPIAgent: Agentic Reproduction Test Generation with Structured Phase Boundaries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DPIAgent</dc:title>
  <dc:subject>Reproduction test generation</dc:subject>
  <dc:creator>DPIAgent</dc:creator>
  <cp:lastModifiedBy>Hao Liu (FESCO Adecco Human Resources)</cp:lastModifiedBy>
  <cp:revision>718</cp:revision>
  <dcterms:created xsi:type="dcterms:W3CDTF">2025-02-27T08:42:44Z</dcterms:created>
  <dcterms:modified xsi:type="dcterms:W3CDTF">2026-10-27T13:13:49Z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2052-6.9.0.8865</vt:lpwstr>
  </property>
  <property fmtid="{D5CDD505-2E9C-101B-9397-08002B2CF9AE}" pid="3" name="ICV">
    <vt:lpwstr>50094614F49A2F41836875666395AC43_41</vt:lpwstr>
  </property>
</Properties>
</file>